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1E3C72"/>
                </a:solidFill>
              </a:defRPr>
            </a:pPr>
            <a:r>
              <a:t>泰康之家·大清谷：运营调研与岗位体感</a:t>
            </a:r>
          </a:p>
          <a:p>
            <a:pPr algn="ctr">
              <a:defRPr sz="2000" b="0">
                <a:solidFill>
                  <a:srgbClr val="4682B4"/>
                </a:solidFill>
              </a:defRPr>
            </a:pPr>
            <a:r>
              <a:t>商业模式拆解 · 排班/家属沟通/例会流程草稿 · 给转行者的切入建议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FFC107"/>
                </a:solidFill>
              </a:defRPr>
            </a:pPr>
            <a:r>
              <a:t>01  01 机构速览：泰康之家·大清谷 是谁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02  02 商业模式：钱从哪来、怎么赚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03  03 运营流程草稿：排班 / 家属沟通 / 例会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04  04 岗位体感与能力模型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05  05 给转行者的建议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01 机构速览：一个中高端医养样本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运营主体：泰康保险集团，全国连锁 CCRC 高端医养品牌「泰康之家」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定位：浙江省首个国际标准高品质医养社区，泰康在浙第一家，2020 年 10 月开业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规模：约 400 户养老单元 / 350 张床位，建面约 4.6 万㎡，西湖区转塘清谷路 333 号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收费：月费 1.1–2.4 万元，按健康状况、房型、服务等级浮动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照护：CCRC 五区（独立/协助/护理/记忆/安宁）+「1+N」多学科团队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02 商业模式：收费结构与盈利模型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收费结构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入门押金：一次性、可退还，1 万元起；满足保险保费条件可免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月费：1.1–2.4 万/月，含房屋使用与居家费用，餐费自理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护理费：按评估等级单独计收，等级越高单价越高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盈利模型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盈利点：床位费 + 护理费 + 餐费 + 押金沉淀资金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核心模型：重资产 + 金融闭环（保险支付绑定养老服务）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医养结合：自建一级综合医院 + 全国异地医保 + 三甲绿通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02 照护体系：CCRC + 1+N 是排班的根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CCRC 五区无缝转介：老人身体变化无需换社区，照护等级动态升级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「1+N」模式：1 名管家统筹，联合医生、护士、康复师、营养师、社工组成多学科团队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一线岗位：管家、护理员、护理主任、社工、康复师，围绕同一位老人协同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这意味着排班不是单线排人，而是按「人」组织多学科班次（下文流程草稿据此展开）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03 排班流程草稿（建议稿）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班次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时段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核心职责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关键动作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早班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08:00–16:00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生活照料 + 活动组织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晨会交接、服药提醒、餐食、康乐活动、记录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晚班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16:00–24:00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交接 + 夜间巡查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班次交接、晚间护理、家属探视接待、巡房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夜班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00:00–08:00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值守 + 应急响应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定时巡房、异常上报、晨间准备、7×24 医护双值守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1+N 协同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全时段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管家统筹多学科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按老人个案拉通医护/康复/营养/社工排班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03 家属沟通流程草稿（建议稿）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入住前：需求评估 + 照护方案共识 + 签约风险告知，建立第一联系人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日常反馈：管家周报、动态 APP、月度家属开放日，降低信息焦虑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突发/异常：2 小时内响应、分级上报、同步处理进展，先稳情绪再讲方案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投诉处理：首问负责、闭环回访，把每次投诉变成信任修复机会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03 例会流程草稿（建议稿）</a:t>
            </a:r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custDataLst>
              <p:tags r:id="rId2"/>
            </p:custDataLst>
          </p:nvPr>
        </p:nvSpPr>
        <p:spPr>
          <a:xfrm>
            <a:off x="1844001" y="3291839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112481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每日晨会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112520" y="4553585"/>
            <a:ext cx="1440815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交接班 + 当日重点 + 风险预警（跌倒/走失/情绪异常）</a:t>
            </a:r>
          </a:p>
        </p:txBody>
      </p:sp>
      <p:sp>
        <p:nvSpPr>
          <p:cNvPr id="11" name="Oval 10"/>
          <p:cNvSpPr/>
          <p:nvPr>
            <p:custDataLst>
              <p:tags r:id="rId5"/>
            </p:custDataLst>
          </p:nvPr>
        </p:nvSpPr>
        <p:spPr>
          <a:xfrm>
            <a:off x="4434725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370320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每周例会</a:t>
            </a: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3703320" y="4553585"/>
            <a:ext cx="153797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入住率、护理质量、投诉复盘，盯本周指标波动</a:t>
            </a:r>
          </a:p>
        </p:txBody>
      </p:sp>
      <p:sp>
        <p:nvSpPr>
          <p:cNvPr id="14" name="Oval 13"/>
          <p:cNvSpPr/>
          <p:nvPr>
            <p:custDataLst>
              <p:tags r:id="rId8"/>
            </p:custDataLst>
          </p:nvPr>
        </p:nvSpPr>
        <p:spPr>
          <a:xfrm>
            <a:off x="7025449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629392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月度运营会</a:t>
            </a: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6865620" y="4553585"/>
            <a:ext cx="12573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经营指标 + 人力成本 + 满意度分析，向院长汇报</a:t>
            </a:r>
          </a:p>
        </p:txBody>
      </p:sp>
      <p:sp>
        <p:nvSpPr>
          <p:cNvPr id="17" name="Oval 16"/>
          <p:cNvSpPr/>
          <p:nvPr>
            <p:custDataLst>
              <p:tags r:id="rId11"/>
            </p:custDataLst>
          </p:nvPr>
        </p:nvSpPr>
        <p:spPr>
          <a:xfrm>
            <a:off x="9616173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8884653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1+N 病例会</a:t>
            </a:r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9144000" y="4553585"/>
            <a:ext cx="155194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多学科个案讨论，针对重点老人调整照护方案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04 岗位体感：运营一线真实一天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高频沟通：一天之内对老人、家属、医护、后勤多方对话，话术随时切换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情绪劳动：家属焦虑、老人情绪波动需即时承接，耐心是硬成本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合规红线：跌倒、压疮、走失是零容忍事件，每一次记录都是证据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数据驱动：入住率、护理等级、满意度、成本，开会必带数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节奏特征：会议多、突发多、纸质台账与系统双轨并行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04 岗位能力模型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硬技能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排班与人力统筹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风险识别与合规把控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运营数据分析（入住率/成本/满意度）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1+N 多学科协调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软技能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共情沟通与倾听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冲突化解与情绪安抚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抗压与多线程处理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细致与责任心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05 给转行者的建议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中高端连锁机构 = 运营管理归宿，其标准化 SOP 是学方法论的最佳教材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新人起点是基层运营，高薪管理岗有 5–10 年壁垒，别被标杆光鲜误导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你的稀缺定位：用 AI 给连锁运营提效（多院区有数据、有预算、缺人）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行动：把本调研当模板，再调研 1–2 家（万科随园嘉树 / 绿城），横向比运营成熟度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调研是看懂行业的眼睛，不是求职保证书；下一步逼自己产出第 4 周的 AI 运营简报作品。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说明与资料来源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40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ECF0F1"/>
                </a:solidFill>
              </a:defRPr>
            </a:pPr>
            <a:r>
              <a:t>流程草稿（排班/家属沟通/例会）为基于行业通行做法与 1+N 框架的建议稿，非泰康内部文件，实际以机构制度为准。</a:t>
            </a:r>
            <a:br/>
            <a:r>
              <a:t>机构数据来源：泰康之家官网、yanglaocn、hzkypt、m.focus.cn、中信银行《养老社区白皮书》、腾讯地图（2026-07-23 检索，以现场/官方为准）。</a:t>
            </a:r>
            <a:br/>
            <a:r>
              <a:t>调研整理：2026-07-23 · 养老转行学习资料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2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3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4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5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6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7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8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9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10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11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12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ags/tag13.xml><?xml version="1.0" encoding="utf-8"?>
<p:tagLst xmlns:p="http://schemas.openxmlformats.org/presentationml/2006/main">
  <p:tag name="KSO_WM_DIAGRAM_VIRTUALLY_FRAME" val="{&quot;height&quot;:243.35,&quot;left&quot;:57.6,&quot;top&quot;:180,&quot;width&quot;:844.77598425196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1980</Words>
  <Application>WPS 演示</Application>
  <PresentationFormat>On-screen Show (4:3)</PresentationFormat>
  <Paragraphs>188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月</cp:lastModifiedBy>
  <cp:revision>2</cp:revision>
  <dcterms:created xsi:type="dcterms:W3CDTF">2013-01-27T09:14:00Z</dcterms:created>
  <dcterms:modified xsi:type="dcterms:W3CDTF">2026-07-23T06:40:24Z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2BA37A6945D7438D8E1EFD138333DB47_12</vt:lpwstr>
  </property>
  <property fmtid="{D5CDD505-2E9C-101B-9397-08002B2CF9AE}" pid="3" name="KSOProductBuildVer">
    <vt:lpwstr>2052-12.1.0.26895</vt:lpwstr>
  </property>
</Properties>
</file>